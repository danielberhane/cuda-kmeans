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85" r:id="rId3"/>
    <p:sldId id="301" r:id="rId4"/>
    <p:sldId id="268" r:id="rId5"/>
    <p:sldId id="294" r:id="rId6"/>
    <p:sldId id="284" r:id="rId7"/>
    <p:sldId id="269" r:id="rId8"/>
    <p:sldId id="297" r:id="rId9"/>
    <p:sldId id="295" r:id="rId10"/>
    <p:sldId id="296" r:id="rId11"/>
    <p:sldId id="270" r:id="rId12"/>
    <p:sldId id="271" r:id="rId13"/>
    <p:sldId id="272" r:id="rId14"/>
    <p:sldId id="273" r:id="rId15"/>
    <p:sldId id="274" r:id="rId16"/>
    <p:sldId id="287" r:id="rId17"/>
    <p:sldId id="298" r:id="rId18"/>
    <p:sldId id="275" r:id="rId19"/>
    <p:sldId id="288" r:id="rId20"/>
    <p:sldId id="299" r:id="rId21"/>
    <p:sldId id="276" r:id="rId22"/>
    <p:sldId id="277" r:id="rId23"/>
    <p:sldId id="278" r:id="rId24"/>
    <p:sldId id="279" r:id="rId25"/>
    <p:sldId id="289" r:id="rId26"/>
    <p:sldId id="280" r:id="rId27"/>
    <p:sldId id="281" r:id="rId28"/>
    <p:sldId id="282" r:id="rId29"/>
    <p:sldId id="283" r:id="rId30"/>
    <p:sldId id="290" r:id="rId31"/>
    <p:sldId id="291" r:id="rId32"/>
    <p:sldId id="292" r:id="rId33"/>
    <p:sldId id="29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2683"/>
    <a:srgbClr val="F6AC41"/>
    <a:srgbClr val="DE3B3C"/>
    <a:srgbClr val="ABC61F"/>
    <a:srgbClr val="1573BD"/>
    <a:srgbClr val="807F83"/>
    <a:srgbClr val="3C1B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8" autoAdjust="0"/>
    <p:restoredTop sz="88274" autoAdjust="0"/>
  </p:normalViewPr>
  <p:slideViewPr>
    <p:cSldViewPr snapToGrid="0" snapToObjects="1">
      <p:cViewPr>
        <p:scale>
          <a:sx n="118" d="100"/>
          <a:sy n="118" d="100"/>
        </p:scale>
        <p:origin x="-183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E7E02-177F-1742-9B54-4359DFA80663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0D64E-5987-2D4B-9D87-3BA09D935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91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97568-298B-6740-9B9F-550E69FACD20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C7D68-8AC4-0440-B1C1-67A64591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58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419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73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36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723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21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41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5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4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86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90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8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34A24-CCD4-E849-8882-22BD847D2D41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9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029" y="2002897"/>
            <a:ext cx="7667203" cy="1143000"/>
          </a:xfrm>
        </p:spPr>
        <p:txBody>
          <a:bodyPr>
            <a:normAutofit/>
          </a:bodyPr>
          <a:lstStyle/>
          <a:p>
            <a:pPr algn="l"/>
            <a:r>
              <a:rPr lang="en-CA" b="1" dirty="0">
                <a:latin typeface="Revit_HEB_DWG" panose="020B0604020202020204" pitchFamily="34" charset="0"/>
                <a:cs typeface="Revit_HEB_DWG" panose="020B0604020202020204" pitchFamily="34" charset="0"/>
              </a:rPr>
              <a:t>k</a:t>
            </a:r>
            <a:r>
              <a:rPr lang="en-CA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-means clustering in CUDA</a:t>
            </a:r>
            <a:endParaRPr lang="en-C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92029" y="3285368"/>
            <a:ext cx="2360176" cy="5039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A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Daniel Berhane</a:t>
            </a:r>
            <a:endParaRPr lang="en-C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92029" y="3789280"/>
            <a:ext cx="1185483" cy="431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A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May 3, 2015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352165" y="6255635"/>
            <a:ext cx="4791833" cy="5039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CA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Electrical and Computer Engineering</a:t>
            </a:r>
            <a:endParaRPr lang="en-CA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35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</a:t>
            </a:r>
            <a:r>
              <a:rPr lang="en-CA" dirty="0" smtClean="0"/>
              <a:t>utline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983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CA" dirty="0" smtClean="0"/>
              <a:t>Problem Definition</a:t>
            </a:r>
          </a:p>
          <a:p>
            <a:r>
              <a:rPr lang="en-CA" dirty="0" smtClean="0"/>
              <a:t>K-means clustering</a:t>
            </a:r>
          </a:p>
          <a:p>
            <a:r>
              <a:rPr lang="en-CA" dirty="0" smtClean="0"/>
              <a:t>Sequential k-means</a:t>
            </a:r>
          </a:p>
          <a:p>
            <a:r>
              <a:rPr lang="en-CA" dirty="0" smtClean="0"/>
              <a:t>Parallel k-means </a:t>
            </a:r>
          </a:p>
          <a:p>
            <a:pPr lvl="1"/>
            <a:r>
              <a:rPr lang="en-CA" dirty="0" smtClean="0"/>
              <a:t>Implementation</a:t>
            </a:r>
          </a:p>
          <a:p>
            <a:pPr lvl="1"/>
            <a:r>
              <a:rPr lang="en-CA" dirty="0" smtClean="0"/>
              <a:t>Parallelism</a:t>
            </a:r>
          </a:p>
          <a:p>
            <a:r>
              <a:rPr lang="en-CA" dirty="0" smtClean="0"/>
              <a:t>Performance</a:t>
            </a:r>
          </a:p>
          <a:p>
            <a:r>
              <a:rPr lang="en-CA" dirty="0" smtClean="0"/>
              <a:t>Bench Marking</a:t>
            </a:r>
          </a:p>
          <a:p>
            <a:r>
              <a:rPr lang="en-CA" dirty="0" smtClean="0"/>
              <a:t>Conclusion</a:t>
            </a:r>
          </a:p>
          <a:p>
            <a:pPr lvl="1"/>
            <a:endParaRPr lang="en-CA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5897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Problem Definition</a:t>
            </a:r>
            <a:endParaRPr lang="en-US" dirty="0">
              <a:latin typeface="Arial" panose="020B0604020202020204" pitchFamily="34" charset="0"/>
              <a:ea typeface="Batang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93" y="1679097"/>
            <a:ext cx="762952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483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" panose="020B060402020202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k-means clustering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94292"/>
          </a:xfrm>
        </p:spPr>
        <p:txBody>
          <a:bodyPr/>
          <a:lstStyle/>
          <a:p>
            <a:r>
              <a:rPr lang="en-CA" dirty="0" smtClean="0"/>
              <a:t>Computationally difficult (NP-hard)</a:t>
            </a:r>
          </a:p>
          <a:p>
            <a:r>
              <a:rPr lang="en-CA" dirty="0" smtClean="0"/>
              <a:t>Lloyd’s algorithm a fast </a:t>
            </a:r>
            <a:r>
              <a:rPr lang="en-CA" dirty="0" smtClean="0"/>
              <a:t>heuristic widely used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937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Sequential K-Means</a:t>
            </a:r>
            <a:endParaRPr lang="en-CA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794" y="1417638"/>
            <a:ext cx="6263699" cy="4063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722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Parallel K-Means Algorithm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03" y="1992944"/>
            <a:ext cx="7683255" cy="306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06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K-means CUDA algorithm</a:t>
            </a:r>
            <a:endParaRPr lang="en-CA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816" y="1569855"/>
            <a:ext cx="5647334" cy="4196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700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754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Kernels</a:t>
            </a:r>
            <a:endParaRPr lang="en-CA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023" y="2080875"/>
            <a:ext cx="4727220" cy="2466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814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02"/>
            <a:ext cx="8229600" cy="1013036"/>
          </a:xfrm>
        </p:spPr>
        <p:txBody>
          <a:bodyPr>
            <a:normAutofit/>
          </a:bodyPr>
          <a:lstStyle/>
          <a:p>
            <a:r>
              <a:rPr lang="en-CA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Kernel 1</a:t>
            </a:r>
            <a:endParaRPr lang="en-CA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33" y="2336989"/>
            <a:ext cx="39052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33" y="3068272"/>
            <a:ext cx="459105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923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091" y="591014"/>
            <a:ext cx="6002266" cy="7229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78" y="1996226"/>
            <a:ext cx="7733762" cy="257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3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541" y="666038"/>
            <a:ext cx="6362700" cy="476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74" y="1742787"/>
            <a:ext cx="7912326" cy="372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37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650957"/>
            <a:ext cx="6362700" cy="4762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82" y="1885444"/>
            <a:ext cx="8347235" cy="337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91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540120"/>
            <a:ext cx="6362700" cy="476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6" y="1615034"/>
            <a:ext cx="8532881" cy="406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2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30368"/>
            <a:ext cx="8293359" cy="38084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837" y="600331"/>
            <a:ext cx="64103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5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8422" y="1934978"/>
            <a:ext cx="4150179" cy="29577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489" y="674261"/>
            <a:ext cx="2885065" cy="73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9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Kernel 2</a:t>
            </a:r>
            <a:endParaRPr lang="en-CA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726" y="2091362"/>
            <a:ext cx="43624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173" y="2886075"/>
            <a:ext cx="47625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148" y="3666239"/>
            <a:ext cx="44005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6657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73" y="585281"/>
            <a:ext cx="6439454" cy="5935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56" y="1549112"/>
            <a:ext cx="7998390" cy="393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0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749" y="671638"/>
            <a:ext cx="2852005" cy="6606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70" y="2306736"/>
            <a:ext cx="4327439" cy="232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24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Kernel 3</a:t>
            </a:r>
            <a:endParaRPr lang="en-C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098" y="1905885"/>
            <a:ext cx="48291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098" y="3717279"/>
            <a:ext cx="46386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8985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43" y="1729298"/>
            <a:ext cx="5383357" cy="37413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71" y="2576945"/>
            <a:ext cx="7983900" cy="2992582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69" y="697558"/>
            <a:ext cx="73818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407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3" y="596216"/>
            <a:ext cx="7032049" cy="5009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37" y="1981200"/>
            <a:ext cx="8663315" cy="321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31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79" y="697559"/>
            <a:ext cx="73818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51" y="1625303"/>
            <a:ext cx="7695527" cy="4022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011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78" y="669616"/>
            <a:ext cx="73818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534" y="2144389"/>
            <a:ext cx="8007677" cy="2568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372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997" y="534445"/>
            <a:ext cx="2852005" cy="7281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473" y="2070902"/>
            <a:ext cx="3843599" cy="219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82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51" y="1364478"/>
            <a:ext cx="6459610" cy="4350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120" y="581952"/>
            <a:ext cx="4626073" cy="48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521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348" y="596310"/>
            <a:ext cx="2520357" cy="49580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03" y="1690383"/>
            <a:ext cx="2610478" cy="3002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622" y="2439502"/>
            <a:ext cx="5327354" cy="289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9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196" y="1041359"/>
            <a:ext cx="3146125" cy="3789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373" y="432965"/>
            <a:ext cx="3173499" cy="6242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83" y="1537448"/>
            <a:ext cx="2207393" cy="253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7579" y="1791298"/>
            <a:ext cx="5237089" cy="42395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1150" y="5569299"/>
            <a:ext cx="27241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4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250" y="432965"/>
            <a:ext cx="3173499" cy="6242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298" y="1057260"/>
            <a:ext cx="3005401" cy="2141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83" y="1537448"/>
            <a:ext cx="2207393" cy="253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6486" y="2166936"/>
            <a:ext cx="4710469" cy="320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1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275" y="2134699"/>
            <a:ext cx="4652910" cy="31303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250" y="432965"/>
            <a:ext cx="3173499" cy="6242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450" y="1032984"/>
            <a:ext cx="3089098" cy="2847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83" y="1537448"/>
            <a:ext cx="2207393" cy="2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7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647" y="547687"/>
            <a:ext cx="3464662" cy="627970"/>
          </a:xfrm>
          <a:prstGeom prst="rect">
            <a:avLst/>
          </a:prstGeom>
        </p:spPr>
      </p:pic>
      <p:sp>
        <p:nvSpPr>
          <p:cNvPr id="6" name="AutoShape 2" descr="https://iwc.uwo.ca/iwc/svc/wmap/attach/chart2.png?token=iv38qSzOMF&amp;mbox=Sent&amp;uid=692&amp;number=5&amp;type=image&amp;subtype=png"/>
          <p:cNvSpPr>
            <a:spLocks noChangeAspect="1" noChangeArrowheads="1"/>
          </p:cNvSpPr>
          <p:nvPr/>
        </p:nvSpPr>
        <p:spPr bwMode="auto">
          <a:xfrm>
            <a:off x="1381474" y="192549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https://iwc.uwo.ca/iwc/svc/wmap/attach/chart1.jpg?token=iv38qSzOMF&amp;mbox=Sent&amp;uid=692&amp;number=4&amp;type=image&amp;subtype=jpeg&amp;process=html%2Cjs%2Clink%2Ctarget%2Cbinhe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18" y="1582668"/>
            <a:ext cx="7917529" cy="415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2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96" y="1828800"/>
            <a:ext cx="7561990" cy="35671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647" y="547687"/>
            <a:ext cx="3464662" cy="62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501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small cluster size the overhead of data copying between device and host outweighs the parallelism advantages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914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6352</TotalTime>
  <Words>81</Words>
  <Application>Microsoft Office PowerPoint</Application>
  <PresentationFormat>On-screen Show (4:3)</PresentationFormat>
  <Paragraphs>28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k-means clustering in CUDA</vt:lpstr>
      <vt:lpstr>Outline</vt:lpstr>
      <vt:lpstr>Problem Definition</vt:lpstr>
      <vt:lpstr>k-means clustering</vt:lpstr>
      <vt:lpstr>Sequential K-Means</vt:lpstr>
      <vt:lpstr>Parallel K-Means Algorithm</vt:lpstr>
      <vt:lpstr>K-means CUDA algorithm</vt:lpstr>
      <vt:lpstr>Kernels</vt:lpstr>
      <vt:lpstr>Kernel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Kernel 2</vt:lpstr>
      <vt:lpstr>PowerPoint Presentation</vt:lpstr>
      <vt:lpstr>PowerPoint Presentation</vt:lpstr>
      <vt:lpstr>Kernel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>UWO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Jennifer Wilson</dc:creator>
  <cp:lastModifiedBy>daraya</cp:lastModifiedBy>
  <cp:revision>71</cp:revision>
  <cp:lastPrinted>2012-01-12T15:01:17Z</cp:lastPrinted>
  <dcterms:created xsi:type="dcterms:W3CDTF">2011-12-23T15:22:14Z</dcterms:created>
  <dcterms:modified xsi:type="dcterms:W3CDTF">2015-06-01T19:05:46Z</dcterms:modified>
</cp:coreProperties>
</file>